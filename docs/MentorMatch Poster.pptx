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601200"/>
  <p:notesSz cx="96012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610"/>
  </p:normalViewPr>
  <p:slideViewPr>
    <p:cSldViewPr snapToGrid="0" snapToObjects="1">
      <p:cViewPr>
        <p:scale>
          <a:sx n="200" d="100"/>
          <a:sy n="200" d="100"/>
        </p:scale>
        <p:origin x="390" y="-3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5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Shape 19">
            <a:extLst>
              <a:ext uri="{FF2B5EF4-FFF2-40B4-BE49-F238E27FC236}">
                <a16:creationId xmlns:a16="http://schemas.microsoft.com/office/drawing/2014/main" id="{C87A980D-0DEE-908A-01AC-D2B2765269E9}"/>
              </a:ext>
            </a:extLst>
          </p:cNvPr>
          <p:cNvSpPr/>
          <p:nvPr/>
        </p:nvSpPr>
        <p:spPr>
          <a:xfrm>
            <a:off x="2341788" y="5940444"/>
            <a:ext cx="4486368" cy="1714646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8" name="Shape 19">
            <a:extLst>
              <a:ext uri="{FF2B5EF4-FFF2-40B4-BE49-F238E27FC236}">
                <a16:creationId xmlns:a16="http://schemas.microsoft.com/office/drawing/2014/main" id="{98EC91E5-130D-356A-0C6E-6FCC5001953E}"/>
              </a:ext>
            </a:extLst>
          </p:cNvPr>
          <p:cNvSpPr/>
          <p:nvPr/>
        </p:nvSpPr>
        <p:spPr>
          <a:xfrm>
            <a:off x="47625" y="7721455"/>
            <a:ext cx="6755571" cy="181153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4" name="Shape 11">
            <a:extLst>
              <a:ext uri="{FF2B5EF4-FFF2-40B4-BE49-F238E27FC236}">
                <a16:creationId xmlns:a16="http://schemas.microsoft.com/office/drawing/2014/main" id="{607AA7D3-0A51-410B-F3CC-542EE020CD33}"/>
              </a:ext>
            </a:extLst>
          </p:cNvPr>
          <p:cNvSpPr/>
          <p:nvPr/>
        </p:nvSpPr>
        <p:spPr>
          <a:xfrm>
            <a:off x="4699664" y="4369308"/>
            <a:ext cx="2128492" cy="153226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1">
            <a:extLst>
              <a:ext uri="{FF2B5EF4-FFF2-40B4-BE49-F238E27FC236}">
                <a16:creationId xmlns:a16="http://schemas.microsoft.com/office/drawing/2014/main" id="{654D63D8-A00E-CB7F-6C78-DAEF0DD22422}"/>
              </a:ext>
            </a:extLst>
          </p:cNvPr>
          <p:cNvSpPr/>
          <p:nvPr/>
        </p:nvSpPr>
        <p:spPr>
          <a:xfrm>
            <a:off x="2338618" y="2498473"/>
            <a:ext cx="2333800" cy="339788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6858000" cy="116586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8841" y="381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MentorMatch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228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1" y="561594"/>
            <a:ext cx="6858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Eldar Gafarov and Roee Bar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-8681" y="758190"/>
            <a:ext cx="6858000" cy="18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Julia Sheidin  </a:t>
            </a:r>
            <a:endParaRPr lang="en-US" sz="900" dirty="0">
              <a:solidFill>
                <a:schemeClr val="bg1"/>
              </a:solidFill>
            </a:endParaRPr>
          </a:p>
        </p:txBody>
      </p: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BD5B94F9-667B-B2D8-8951-8C7BD5D04399}"/>
              </a:ext>
            </a:extLst>
          </p:cNvPr>
          <p:cNvGrpSpPr/>
          <p:nvPr/>
        </p:nvGrpSpPr>
        <p:grpSpPr>
          <a:xfrm>
            <a:off x="44025" y="1231391"/>
            <a:ext cx="2262577" cy="1406883"/>
            <a:chOff x="137159" y="1231391"/>
            <a:chExt cx="2169443" cy="1406883"/>
          </a:xfrm>
        </p:grpSpPr>
        <p:sp>
          <p:nvSpPr>
            <p:cNvPr id="13" name="Shape 11"/>
            <p:cNvSpPr/>
            <p:nvPr/>
          </p:nvSpPr>
          <p:spPr>
            <a:xfrm>
              <a:off x="137159" y="1234440"/>
              <a:ext cx="2162545" cy="14038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137159" y="1231391"/>
              <a:ext cx="2147305" cy="2087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Motivation</a:t>
              </a:r>
              <a:endParaRPr lang="en-US" sz="11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4058" y="1421583"/>
              <a:ext cx="2162544" cy="1210286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cs typeface="Arial" pitchFamily="34" charset="-120"/>
                </a:rPr>
                <a:t>At Braude College, students face significant challenges finding project supervisors. The current process relies on fragmented communication channels including emails, and word-of-mouth.</a:t>
              </a:r>
              <a:r>
                <a:rPr lang="en-US" sz="8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
</a:t>
              </a:r>
              <a:r>
                <a:rPr lang="en-US" sz="800" b="1" dirty="0">
                  <a:latin typeface="Arial" pitchFamily="34" charset="0"/>
                  <a:cs typeface="Arial" pitchFamily="34" charset="-120"/>
                </a:rPr>
                <a:t>Our goal </a:t>
              </a:r>
              <a:r>
                <a:rPr lang="en-US" sz="800" dirty="0">
                  <a:latin typeface="Arial" pitchFamily="34" charset="0"/>
                  <a:cs typeface="Arial" pitchFamily="34" charset="-120"/>
                </a:rPr>
                <a:t>is to create a centralized, transparent platform that connects students with supervisors efficiently.</a:t>
              </a:r>
            </a:p>
          </p:txBody>
        </p:sp>
      </p:grpSp>
      <p:sp>
        <p:nvSpPr>
          <p:cNvPr id="28" name="Text 26"/>
          <p:cNvSpPr/>
          <p:nvPr/>
        </p:nvSpPr>
        <p:spPr>
          <a:xfrm>
            <a:off x="2331720" y="776554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Screenshots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5260" y="869061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75260" y="813943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704433" y="1231391"/>
            <a:ext cx="2123723" cy="93958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711331" y="1241369"/>
            <a:ext cx="2109541" cy="205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3A6E"/>
                </a:solidFill>
                <a:latin typeface="Arial" pitchFamily="34" charset="0"/>
                <a:cs typeface="Arial" pitchFamily="34" charset="-120"/>
              </a:rPr>
              <a:t>Student’s Feedback</a:t>
            </a:r>
          </a:p>
        </p:txBody>
      </p:sp>
      <p:sp>
        <p:nvSpPr>
          <p:cNvPr id="60" name="Text 58"/>
          <p:cNvSpPr/>
          <p:nvPr/>
        </p:nvSpPr>
        <p:spPr>
          <a:xfrm>
            <a:off x="4704433" y="1421329"/>
            <a:ext cx="2109542" cy="737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he-IL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800" dirty="0">
                <a:latin typeface="Arial" pitchFamily="34" charset="0"/>
                <a:cs typeface="Arial" pitchFamily="34" charset="-120"/>
              </a:rPr>
              <a:t>Finally I can see which supervisors are available and what topics interest them."</a:t>
            </a:r>
            <a:endParaRPr lang="he-IL" sz="800" dirty="0">
              <a:latin typeface="Arial" pitchFamily="34" charset="0"/>
              <a:cs typeface="Arial" pitchFamily="34" charset="-120"/>
            </a:endParaRPr>
          </a:p>
          <a:p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he-IL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r>
              <a:rPr lang="en-US" sz="800" dirty="0">
                <a:latin typeface="Arial" pitchFamily="34" charset="0"/>
                <a:cs typeface="Arial" pitchFamily="34" charset="-120"/>
              </a:rPr>
              <a:t>Seeing supervisor capacity in real-time means I can stop wasting time on supervisors who are already full."</a:t>
            </a:r>
          </a:p>
        </p:txBody>
      </p:sp>
      <p:pic>
        <p:nvPicPr>
          <p:cNvPr id="1024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22D5EAC5-217F-7621-0CBA-FC657643C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" y="68207"/>
            <a:ext cx="1539241" cy="5093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7" name="Picture 10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37805-B442-1BB3-BB3F-3783C9A9E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9860" y="7990839"/>
            <a:ext cx="2191315" cy="1377641"/>
          </a:xfrm>
          <a:prstGeom prst="rect">
            <a:avLst/>
          </a:prstGeom>
        </p:spPr>
      </p:pic>
      <p:pic>
        <p:nvPicPr>
          <p:cNvPr id="1029" name="Picture 10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4A2543-F1F6-770B-54CA-3475BA641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418" y="7990261"/>
            <a:ext cx="2060939" cy="1377641"/>
          </a:xfrm>
          <a:prstGeom prst="rect">
            <a:avLst/>
          </a:prstGeom>
        </p:spPr>
      </p:pic>
      <p:pic>
        <p:nvPicPr>
          <p:cNvPr id="1031" name="Picture 103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9A3D4B-4970-FB5B-A75B-204F5702B9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9" y="7995721"/>
            <a:ext cx="2247179" cy="1377641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1172D2E-8499-888D-80FB-598A6CB5AB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9827" y="66140"/>
            <a:ext cx="1116185" cy="7613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34" name="Text 10">
            <a:extLst>
              <a:ext uri="{FF2B5EF4-FFF2-40B4-BE49-F238E27FC236}">
                <a16:creationId xmlns:a16="http://schemas.microsoft.com/office/drawing/2014/main" id="{52E5A759-AE0D-907C-2FB8-1045A29F5F0E}"/>
              </a:ext>
            </a:extLst>
          </p:cNvPr>
          <p:cNvSpPr/>
          <p:nvPr/>
        </p:nvSpPr>
        <p:spPr>
          <a:xfrm>
            <a:off x="0" y="1005840"/>
            <a:ext cx="68580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Code: 25-2-D-7</a:t>
            </a:r>
            <a:endParaRPr lang="en-US" sz="800" dirty="0">
              <a:solidFill>
                <a:schemeClr val="bg1"/>
              </a:solidFill>
            </a:endParaRPr>
          </a:p>
        </p:txBody>
      </p:sp>
      <p:pic>
        <p:nvPicPr>
          <p:cNvPr id="1036" name="Picture 1035">
            <a:extLst>
              <a:ext uri="{FF2B5EF4-FFF2-40B4-BE49-F238E27FC236}">
                <a16:creationId xmlns:a16="http://schemas.microsoft.com/office/drawing/2014/main" id="{FD2ECA51-2971-E884-7F4C-FF083DA284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8727" y="2755392"/>
            <a:ext cx="2045597" cy="30447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37" name="Text 41">
            <a:extLst>
              <a:ext uri="{FF2B5EF4-FFF2-40B4-BE49-F238E27FC236}">
                <a16:creationId xmlns:a16="http://schemas.microsoft.com/office/drawing/2014/main" id="{9D1285B0-A03B-E9DC-8613-2C1655E16E39}"/>
              </a:ext>
            </a:extLst>
          </p:cNvPr>
          <p:cNvSpPr/>
          <p:nvPr/>
        </p:nvSpPr>
        <p:spPr>
          <a:xfrm>
            <a:off x="2362786" y="2520719"/>
            <a:ext cx="23096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A3A6E"/>
                </a:solidFill>
                <a:latin typeface="Arial" pitchFamily="34" charset="0"/>
                <a:cs typeface="Arial" pitchFamily="34" charset="-120"/>
              </a:rPr>
              <a:t>Process Workflow</a:t>
            </a:r>
          </a:p>
        </p:txBody>
      </p: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E2E85A9E-FC2F-86B9-950C-51D32FE42EC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788" t="2720" r="3845" b="1"/>
          <a:stretch>
            <a:fillRect/>
          </a:stretch>
        </p:blipFill>
        <p:spPr>
          <a:xfrm>
            <a:off x="4704433" y="4465574"/>
            <a:ext cx="2109542" cy="1390050"/>
          </a:xfrm>
          <a:prstGeom prst="rect">
            <a:avLst/>
          </a:prstGeom>
        </p:spPr>
      </p:pic>
      <p:grpSp>
        <p:nvGrpSpPr>
          <p:cNvPr id="1061" name="Group 1060">
            <a:extLst>
              <a:ext uri="{FF2B5EF4-FFF2-40B4-BE49-F238E27FC236}">
                <a16:creationId xmlns:a16="http://schemas.microsoft.com/office/drawing/2014/main" id="{A8D2316C-576E-871E-66B5-D9EE89EFAAB7}"/>
              </a:ext>
            </a:extLst>
          </p:cNvPr>
          <p:cNvGrpSpPr/>
          <p:nvPr/>
        </p:nvGrpSpPr>
        <p:grpSpPr>
          <a:xfrm>
            <a:off x="4704433" y="2299539"/>
            <a:ext cx="2123723" cy="1941201"/>
            <a:chOff x="4704433" y="2303968"/>
            <a:chExt cx="2123723" cy="1941201"/>
          </a:xfrm>
          <a:solidFill>
            <a:schemeClr val="bg1"/>
          </a:solidFill>
        </p:grpSpPr>
        <p:sp>
          <p:nvSpPr>
            <p:cNvPr id="1043" name="Shape 11">
              <a:extLst>
                <a:ext uri="{FF2B5EF4-FFF2-40B4-BE49-F238E27FC236}">
                  <a16:creationId xmlns:a16="http://schemas.microsoft.com/office/drawing/2014/main" id="{9B5918CC-18AC-00AB-167A-B30424E2EBA7}"/>
                </a:ext>
              </a:extLst>
            </p:cNvPr>
            <p:cNvSpPr/>
            <p:nvPr/>
          </p:nvSpPr>
          <p:spPr>
            <a:xfrm>
              <a:off x="4704433" y="2303968"/>
              <a:ext cx="2123723" cy="1941201"/>
            </a:xfrm>
            <a:prstGeom prst="rect">
              <a:avLst/>
            </a:prstGeom>
            <a:grpFill/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042" name="Picture 1041">
              <a:extLst>
                <a:ext uri="{FF2B5EF4-FFF2-40B4-BE49-F238E27FC236}">
                  <a16:creationId xmlns:a16="http://schemas.microsoft.com/office/drawing/2014/main" id="{E0587769-8824-BF27-48D8-6097B8D35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r="2233"/>
            <a:stretch>
              <a:fillRect/>
            </a:stretch>
          </p:blipFill>
          <p:spPr>
            <a:xfrm>
              <a:off x="4783205" y="2551528"/>
              <a:ext cx="1951997" cy="1589128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045" name="Text 41">
              <a:extLst>
                <a:ext uri="{FF2B5EF4-FFF2-40B4-BE49-F238E27FC236}">
                  <a16:creationId xmlns:a16="http://schemas.microsoft.com/office/drawing/2014/main" id="{5A5C4FCF-6D1D-2793-FA00-540560212E74}"/>
                </a:ext>
              </a:extLst>
            </p:cNvPr>
            <p:cNvSpPr/>
            <p:nvPr/>
          </p:nvSpPr>
          <p:spPr>
            <a:xfrm>
              <a:off x="4719673" y="2308380"/>
              <a:ext cx="2094302" cy="164592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algn="ctr"/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cs typeface="Arial" pitchFamily="34" charset="-120"/>
                </a:rPr>
                <a:t>Use Case</a:t>
              </a:r>
            </a:p>
          </p:txBody>
        </p:sp>
      </p:grpSp>
      <p:pic>
        <p:nvPicPr>
          <p:cNvPr id="1052" name="Picture 1051">
            <a:extLst>
              <a:ext uri="{FF2B5EF4-FFF2-40B4-BE49-F238E27FC236}">
                <a16:creationId xmlns:a16="http://schemas.microsoft.com/office/drawing/2014/main" id="{72557697-5523-C72E-9425-16E0191285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7917" y="5940445"/>
            <a:ext cx="4277285" cy="1690726"/>
          </a:xfrm>
          <a:prstGeom prst="rect">
            <a:avLst/>
          </a:prstGeom>
        </p:spPr>
      </p:pic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E6487E8B-290D-91CA-21F7-EAFE42C9B3DA}"/>
              </a:ext>
            </a:extLst>
          </p:cNvPr>
          <p:cNvGrpSpPr/>
          <p:nvPr/>
        </p:nvGrpSpPr>
        <p:grpSpPr>
          <a:xfrm>
            <a:off x="44025" y="2882336"/>
            <a:ext cx="2255679" cy="1118904"/>
            <a:chOff x="122798" y="3179371"/>
            <a:chExt cx="2176906" cy="1118904"/>
          </a:xfrm>
        </p:grpSpPr>
        <p:sp>
          <p:nvSpPr>
            <p:cNvPr id="17" name="Shape 15"/>
            <p:cNvSpPr/>
            <p:nvPr/>
          </p:nvSpPr>
          <p:spPr>
            <a:xfrm>
              <a:off x="137160" y="3184955"/>
              <a:ext cx="2162544" cy="11133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137158" y="3368116"/>
              <a:ext cx="2160191" cy="930159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cs typeface="Arial" pitchFamily="34" charset="-120"/>
                </a:rPr>
                <a:t>We developed a comprehensive web platform, featuring supervisor profiles, student application portal, real-time matching dashboard, and administrative oversight tools. The platform uses modern web technologies for a clean, user-friendly interface with secure authentication.</a:t>
              </a:r>
            </a:p>
          </p:txBody>
        </p:sp>
        <p:sp>
          <p:nvSpPr>
            <p:cNvPr id="1054" name="Text 13">
              <a:extLst>
                <a:ext uri="{FF2B5EF4-FFF2-40B4-BE49-F238E27FC236}">
                  <a16:creationId xmlns:a16="http://schemas.microsoft.com/office/drawing/2014/main" id="{75A1DC75-9249-2ADF-992D-0800E5CD9800}"/>
                </a:ext>
              </a:extLst>
            </p:cNvPr>
            <p:cNvSpPr/>
            <p:nvPr/>
          </p:nvSpPr>
          <p:spPr>
            <a:xfrm>
              <a:off x="122798" y="3179371"/>
              <a:ext cx="2147305" cy="2087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Solution</a:t>
              </a:r>
              <a:endParaRPr lang="en-US" sz="1100" dirty="0"/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712C23B4-4C53-C86C-041B-2D415AC11226}"/>
              </a:ext>
            </a:extLst>
          </p:cNvPr>
          <p:cNvGrpSpPr/>
          <p:nvPr/>
        </p:nvGrpSpPr>
        <p:grpSpPr>
          <a:xfrm>
            <a:off x="51220" y="5408534"/>
            <a:ext cx="2233483" cy="919170"/>
            <a:chOff x="182288" y="5077169"/>
            <a:chExt cx="2161905" cy="919170"/>
          </a:xfrm>
        </p:grpSpPr>
        <p:sp>
          <p:nvSpPr>
            <p:cNvPr id="21" name="Shape 19"/>
            <p:cNvSpPr/>
            <p:nvPr/>
          </p:nvSpPr>
          <p:spPr>
            <a:xfrm>
              <a:off x="184004" y="5077169"/>
              <a:ext cx="2160189" cy="91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182288" y="5278545"/>
              <a:ext cx="2160188" cy="71483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Elimination of double-booking conflicts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Reduce of email overhead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Real-time availability tracking and project statuses</a:t>
              </a:r>
            </a:p>
            <a:p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Formal commitment mechanism</a:t>
              </a:r>
            </a:p>
          </p:txBody>
        </p:sp>
        <p:sp>
          <p:nvSpPr>
            <p:cNvPr id="1055" name="Text 13">
              <a:extLst>
                <a:ext uri="{FF2B5EF4-FFF2-40B4-BE49-F238E27FC236}">
                  <a16:creationId xmlns:a16="http://schemas.microsoft.com/office/drawing/2014/main" id="{24DBE60A-828B-E01F-C68E-03BD22B5FE48}"/>
                </a:ext>
              </a:extLst>
            </p:cNvPr>
            <p:cNvSpPr/>
            <p:nvPr/>
          </p:nvSpPr>
          <p:spPr>
            <a:xfrm>
              <a:off x="184004" y="5078194"/>
              <a:ext cx="2147305" cy="2087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cs typeface="Arial" pitchFamily="34" charset="-120"/>
                </a:rPr>
                <a:t>Impact &amp; Benefits</a:t>
              </a:r>
            </a:p>
          </p:txBody>
        </p:sp>
      </p:grp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720CA39F-5F3D-AFD4-4D6C-F79A7CC5B25F}"/>
              </a:ext>
            </a:extLst>
          </p:cNvPr>
          <p:cNvGrpSpPr/>
          <p:nvPr/>
        </p:nvGrpSpPr>
        <p:grpSpPr>
          <a:xfrm>
            <a:off x="44026" y="6571765"/>
            <a:ext cx="2246880" cy="1080742"/>
            <a:chOff x="137160" y="6571765"/>
            <a:chExt cx="2153745" cy="1080742"/>
          </a:xfrm>
        </p:grpSpPr>
        <p:sp>
          <p:nvSpPr>
            <p:cNvPr id="38" name="Shape 36"/>
            <p:cNvSpPr/>
            <p:nvPr/>
          </p:nvSpPr>
          <p:spPr>
            <a:xfrm>
              <a:off x="137160" y="6571765"/>
              <a:ext cx="2153745" cy="10807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137161" y="6790457"/>
              <a:ext cx="2147303" cy="86205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User Adoption: Resistance from email-based processes</a:t>
              </a:r>
              <a:endParaRPr lang="en-US" sz="7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Data Management: Accurate capacity tracking</a:t>
              </a:r>
              <a:endParaRPr lang="en-US" sz="7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Integration: ProjectHub compatibility</a:t>
              </a:r>
              <a:endParaRPr lang="en-US" sz="750" dirty="0"/>
            </a:p>
            <a:p>
              <a:pPr marL="0" indent="0">
                <a:buNone/>
              </a:pPr>
              <a:r>
                <a:rPr lang="en-US" sz="75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Communication: Structured stakeholder messaging</a:t>
              </a:r>
              <a:endParaRPr lang="en-US" sz="750" dirty="0"/>
            </a:p>
          </p:txBody>
        </p:sp>
        <p:sp>
          <p:nvSpPr>
            <p:cNvPr id="1056" name="Text 13">
              <a:extLst>
                <a:ext uri="{FF2B5EF4-FFF2-40B4-BE49-F238E27FC236}">
                  <a16:creationId xmlns:a16="http://schemas.microsoft.com/office/drawing/2014/main" id="{214FDC7B-7F8F-775A-371E-77C3EF4F50FF}"/>
                </a:ext>
              </a:extLst>
            </p:cNvPr>
            <p:cNvSpPr/>
            <p:nvPr/>
          </p:nvSpPr>
          <p:spPr>
            <a:xfrm>
              <a:off x="143600" y="6581723"/>
              <a:ext cx="2147305" cy="2087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cs typeface="Arial" pitchFamily="34" charset="-120"/>
                </a:rPr>
                <a:t>Challenges &amp; Constraints</a:t>
              </a:r>
              <a:endParaRPr lang="en-US" sz="1100" dirty="0"/>
            </a:p>
          </p:txBody>
        </p:sp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1321CDEC-CABE-637E-12E3-DF109BB7CFA1}"/>
              </a:ext>
            </a:extLst>
          </p:cNvPr>
          <p:cNvGrpSpPr/>
          <p:nvPr/>
        </p:nvGrpSpPr>
        <p:grpSpPr>
          <a:xfrm>
            <a:off x="47626" y="4245302"/>
            <a:ext cx="2243280" cy="919170"/>
            <a:chOff x="137159" y="4917340"/>
            <a:chExt cx="2160189" cy="919170"/>
          </a:xfrm>
        </p:grpSpPr>
        <p:sp>
          <p:nvSpPr>
            <p:cNvPr id="1063" name="Shape 19">
              <a:extLst>
                <a:ext uri="{FF2B5EF4-FFF2-40B4-BE49-F238E27FC236}">
                  <a16:creationId xmlns:a16="http://schemas.microsoft.com/office/drawing/2014/main" id="{1CAEC8E8-861B-48CC-9CBE-A5A5830190F1}"/>
                </a:ext>
              </a:extLst>
            </p:cNvPr>
            <p:cNvSpPr/>
            <p:nvPr/>
          </p:nvSpPr>
          <p:spPr>
            <a:xfrm>
              <a:off x="137159" y="4917340"/>
              <a:ext cx="2160189" cy="91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4" name="Text 21">
              <a:extLst>
                <a:ext uri="{FF2B5EF4-FFF2-40B4-BE49-F238E27FC236}">
                  <a16:creationId xmlns:a16="http://schemas.microsoft.com/office/drawing/2014/main" id="{DA50390F-22F3-B214-6657-389C08E1B0AE}"/>
                </a:ext>
              </a:extLst>
            </p:cNvPr>
            <p:cNvSpPr/>
            <p:nvPr/>
          </p:nvSpPr>
          <p:spPr>
            <a:xfrm>
              <a:off x="137160" y="5121680"/>
              <a:ext cx="2160188" cy="71483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Supervisor profiles with research interests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Structured student application system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Real-time capacity tracking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Automated email notifications</a:t>
              </a:r>
              <a:endParaRPr lang="en-US" sz="800" dirty="0"/>
            </a:p>
            <a:p>
              <a:pPr marL="0" indent="0">
                <a:buNone/>
              </a:pPr>
              <a:r>
                <a:rPr lang="en-US" sz="80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• Administrative oversight dashboard</a:t>
              </a:r>
              <a:endParaRPr lang="en-US" sz="800" dirty="0"/>
            </a:p>
          </p:txBody>
        </p:sp>
        <p:sp>
          <p:nvSpPr>
            <p:cNvPr id="1065" name="Text 13">
              <a:extLst>
                <a:ext uri="{FF2B5EF4-FFF2-40B4-BE49-F238E27FC236}">
                  <a16:creationId xmlns:a16="http://schemas.microsoft.com/office/drawing/2014/main" id="{E0952EC4-ABCF-E746-AAB3-FC5F2D78CC6C}"/>
                </a:ext>
              </a:extLst>
            </p:cNvPr>
            <p:cNvSpPr/>
            <p:nvPr/>
          </p:nvSpPr>
          <p:spPr>
            <a:xfrm>
              <a:off x="143600" y="4918238"/>
              <a:ext cx="2147305" cy="2087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Key Features</a:t>
              </a:r>
              <a:endParaRPr lang="en-US" sz="1100" dirty="0"/>
            </a:p>
          </p:txBody>
        </p:sp>
      </p:grpSp>
      <p:sp>
        <p:nvSpPr>
          <p:cNvPr id="4" name="Shape 56">
            <a:extLst>
              <a:ext uri="{FF2B5EF4-FFF2-40B4-BE49-F238E27FC236}">
                <a16:creationId xmlns:a16="http://schemas.microsoft.com/office/drawing/2014/main" id="{DC7E78CB-CA9D-6F3D-7DAF-F8FDBE0E8CA0}"/>
              </a:ext>
            </a:extLst>
          </p:cNvPr>
          <p:cNvSpPr/>
          <p:nvPr/>
        </p:nvSpPr>
        <p:spPr>
          <a:xfrm>
            <a:off x="2341788" y="1231391"/>
            <a:ext cx="2339557" cy="1193073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7">
            <a:extLst>
              <a:ext uri="{FF2B5EF4-FFF2-40B4-BE49-F238E27FC236}">
                <a16:creationId xmlns:a16="http://schemas.microsoft.com/office/drawing/2014/main" id="{47B0743F-DF6E-F950-50AB-B4C139121D6D}"/>
              </a:ext>
            </a:extLst>
          </p:cNvPr>
          <p:cNvSpPr/>
          <p:nvPr/>
        </p:nvSpPr>
        <p:spPr>
          <a:xfrm>
            <a:off x="2348686" y="1241369"/>
            <a:ext cx="2323934" cy="205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A3A6E"/>
                </a:solidFill>
                <a:latin typeface="Arial" pitchFamily="34" charset="0"/>
                <a:cs typeface="Arial" pitchFamily="34" charset="-120"/>
              </a:rPr>
              <a:t>Supervisor’s Feedback</a:t>
            </a:r>
          </a:p>
        </p:txBody>
      </p:sp>
      <p:sp>
        <p:nvSpPr>
          <p:cNvPr id="8" name="Text 58">
            <a:extLst>
              <a:ext uri="{FF2B5EF4-FFF2-40B4-BE49-F238E27FC236}">
                <a16:creationId xmlns:a16="http://schemas.microsoft.com/office/drawing/2014/main" id="{78B5762A-1744-CEFE-25BB-9251ED865BF9}"/>
              </a:ext>
            </a:extLst>
          </p:cNvPr>
          <p:cNvSpPr/>
          <p:nvPr/>
        </p:nvSpPr>
        <p:spPr>
          <a:xfrm>
            <a:off x="2341787" y="1421329"/>
            <a:ext cx="2323935" cy="10107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00" dirty="0">
                <a:latin typeface="Arial" pitchFamily="34" charset="0"/>
                <a:cs typeface="Arial" pitchFamily="34" charset="-120"/>
              </a:rPr>
              <a:t>"This will finally reduce the email spam, no more duplicate inquiries from students who already found someone else.</a:t>
            </a:r>
            <a:r>
              <a:rPr lang="he-IL" sz="800" dirty="0">
                <a:latin typeface="Arial" pitchFamily="34" charset="0"/>
                <a:cs typeface="Arial" pitchFamily="34" charset="-120"/>
              </a:rPr>
              <a:t>"</a:t>
            </a:r>
            <a:endParaRPr lang="en-US" sz="800" dirty="0">
              <a:latin typeface="Arial" pitchFamily="34" charset="0"/>
              <a:cs typeface="Arial" pitchFamily="34" charset="-120"/>
            </a:endParaRPr>
          </a:p>
          <a:p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800" dirty="0">
                <a:latin typeface="Arial" pitchFamily="34" charset="0"/>
                <a:cs typeface="Arial" pitchFamily="34" charset="-120"/>
              </a:rPr>
              <a:t>"Students can see my availability upfront, so they know what to expect before reaching out.</a:t>
            </a:r>
            <a:r>
              <a:rPr lang="he-IL" sz="800" dirty="0">
                <a:latin typeface="Arial" pitchFamily="34" charset="0"/>
                <a:cs typeface="Arial" pitchFamily="34" charset="-120"/>
              </a:rPr>
              <a:t>"</a:t>
            </a:r>
            <a:endParaRPr lang="en-US" sz="800" dirty="0">
              <a:latin typeface="Arial" pitchFamily="34" charset="0"/>
              <a:cs typeface="Arial" pitchFamily="34" charset="-120"/>
            </a:endParaRPr>
          </a:p>
          <a:p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r>
              <a:rPr lang="he-IL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dirty="0">
                <a:latin typeface="Arial" pitchFamily="34" charset="0"/>
                <a:cs typeface="Arial" pitchFamily="34" charset="-120"/>
              </a:rPr>
              <a:t>"The system handles the logistical overhead so I can focus on the actual mentoring."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</TotalTime>
  <Words>289</Words>
  <Application>Microsoft Office PowerPoint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MentorMatch - Final Projects Portal</dc:title>
  <dc:subject>Capstone Project Phase A</dc:subject>
  <dc:creator>Eldar Gafarov, Roee Bar</dc:creator>
  <cp:lastModifiedBy>אלדר גפרוב</cp:lastModifiedBy>
  <cp:revision>9</cp:revision>
  <dcterms:created xsi:type="dcterms:W3CDTF">2026-01-13T17:18:24Z</dcterms:created>
  <dcterms:modified xsi:type="dcterms:W3CDTF">2026-02-09T15:56:28Z</dcterms:modified>
</cp:coreProperties>
</file>